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B46"/>
          </a:solidFill>
          <a:ln w="12700">
            <a:solidFill>
              <a:srgbClr val="0B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18120" y="-320040"/>
            <a:ext cx="5303520" cy="5303520"/>
          </a:xfrm>
          <a:prstGeom prst="arc">
            <a:avLst/>
          </a:prstGeom>
          <a:noFill/>
          <a:ln w="88900">
            <a:solidFill>
              <a:srgbClr val="00837B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41080" y="502920"/>
            <a:ext cx="3566160" cy="3566160"/>
          </a:xfrm>
          <a:prstGeom prst="arc">
            <a:avLst/>
          </a:prstGeom>
          <a:noFill/>
          <a:ln w="63500">
            <a:solidFill>
              <a:srgbClr val="1E88E5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14400"/>
            <a:ext cx="68580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Microsoft Fabric,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DevOps and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Version Control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13232" y="3456432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D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Analyst walkthrough | report delivery lifecycle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4736592"/>
            <a:ext cx="1477670" cy="713232"/>
          </a:xfrm>
          <a:prstGeom prst="roundRect">
            <a:avLst>
              <a:gd name="adj" fmla="val 10256"/>
            </a:avLst>
          </a:prstGeom>
          <a:solidFill>
            <a:srgbClr val="F4F8FB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4910328"/>
            <a:ext cx="13496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227478" y="493776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373782" y="4736592"/>
            <a:ext cx="1477670" cy="713232"/>
          </a:xfrm>
          <a:prstGeom prst="roundRect">
            <a:avLst>
              <a:gd name="adj" fmla="val 10256"/>
            </a:avLst>
          </a:prstGeom>
          <a:solidFill>
            <a:srgbClr val="F4F8FB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37790" y="4910328"/>
            <a:ext cx="13496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824021" y="493776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970325" y="4736592"/>
            <a:ext cx="1477670" cy="713232"/>
          </a:xfrm>
          <a:prstGeom prst="roundRect">
            <a:avLst>
              <a:gd name="adj" fmla="val 10256"/>
            </a:avLst>
          </a:prstGeom>
          <a:solidFill>
            <a:srgbClr val="F4F8FB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34333" y="4910328"/>
            <a:ext cx="13496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20563" y="493776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566867" y="4736592"/>
            <a:ext cx="1477670" cy="713232"/>
          </a:xfrm>
          <a:prstGeom prst="roundRect">
            <a:avLst>
              <a:gd name="adj" fmla="val 10256"/>
            </a:avLst>
          </a:prstGeom>
          <a:solidFill>
            <a:srgbClr val="F4F8FB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30875" y="4910328"/>
            <a:ext cx="13496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017106" y="493776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163410" y="4736592"/>
            <a:ext cx="1477670" cy="713232"/>
          </a:xfrm>
          <a:prstGeom prst="roundRect">
            <a:avLst>
              <a:gd name="adj" fmla="val 10256"/>
            </a:avLst>
          </a:prstGeom>
          <a:solidFill>
            <a:srgbClr val="00837B"/>
          </a:solidFill>
          <a:ln w="12700">
            <a:solidFill>
              <a:srgbClr val="0083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7418" y="4910328"/>
            <a:ext cx="13496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837B"/>
          </a:solidFill>
          <a:ln w="12700">
            <a:solidFill>
              <a:srgbClr val="00837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837B"/>
          </a:solidFill>
          <a:ln w="12700">
            <a:solidFill>
              <a:srgbClr val="0083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3832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83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lifecycle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92840" y="2926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B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DevOps is part of the conversation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30352" y="178308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shared way to manage report changes from request to publication.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2569464"/>
            <a:ext cx="146304" cy="146304"/>
          </a:xfrm>
          <a:prstGeom prst="ellipse">
            <a:avLst/>
          </a:prstGeom>
          <a:solidFill>
            <a:srgbClr val="00837B"/>
          </a:solidFill>
          <a:ln w="12700">
            <a:solidFill>
              <a:srgbClr val="0083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5146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 is visible instead of hidden across emails and chats.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" y="3136392"/>
            <a:ext cx="146304" cy="146304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081528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Changes have an owner, status and basic history.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4360" y="3703320"/>
            <a:ext cx="146304" cy="146304"/>
          </a:xfrm>
          <a:prstGeom prst="ellipse">
            <a:avLst/>
          </a:prstGeom>
          <a:solidFill>
            <a:srgbClr val="00837B"/>
          </a:solidFill>
          <a:ln w="12700">
            <a:solidFill>
              <a:srgbClr val="0083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648456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and validation happen before wider use.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360" y="4270248"/>
            <a:ext cx="146304" cy="146304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215384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becomes easier when there is a record of decisions.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543800" y="841248"/>
            <a:ext cx="3474720" cy="3474720"/>
          </a:xfrm>
          <a:prstGeom prst="arc">
            <a:avLst/>
          </a:prstGeom>
          <a:noFill/>
          <a:ln w="63500">
            <a:solidFill>
              <a:srgbClr val="00837B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0" y="1417320"/>
            <a:ext cx="2194560" cy="2194560"/>
          </a:xfrm>
          <a:prstGeom prst="arc">
            <a:avLst/>
          </a:prstGeom>
          <a:noFill/>
          <a:ln w="50800">
            <a:solidFill>
              <a:srgbClr val="1E88E5">
                <a:alpha val="5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73568" y="1828800"/>
            <a:ext cx="2651760" cy="2651760"/>
          </a:xfrm>
          <a:prstGeom prst="ellipse">
            <a:avLst/>
          </a:prstGeom>
          <a:solidFill>
            <a:srgbClr val="F4F8FB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65592" y="226771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02920" y="6217920"/>
            <a:ext cx="11155680" cy="9144"/>
          </a:xfrm>
          <a:prstGeom prst="rect">
            <a:avLst/>
          </a:prstGeom>
          <a:noFill/>
          <a:ln w="12700">
            <a:solidFill>
              <a:srgbClr val="D7E2EA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837B"/>
          </a:solidFill>
          <a:ln w="12700">
            <a:solidFill>
              <a:srgbClr val="0083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3832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83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lifecycle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92840" y="2926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Screen view: Azure DevOps work tracking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0352" y="1216152"/>
            <a:ext cx="7178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Boards and work items make reporting requests visible and trackable.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594360" y="1810512"/>
            <a:ext cx="11018520" cy="4370832"/>
          </a:xfrm>
          <a:prstGeom prst="roundRect">
            <a:avLst>
              <a:gd name="adj" fmla="val 2092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</p:sp>
      <p:pic>
        <p:nvPicPr>
          <p:cNvPr id="8" name="Image 0" descr="/mnt/data/ms_screens/boards_hub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52850" y="1965960"/>
            <a:ext cx="3301540" cy="4023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94944" y="6345936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Learn screenshot: Azure Boards hubs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837B"/>
          </a:solidFill>
          <a:ln w="12700">
            <a:solidFill>
              <a:srgbClr val="0083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3832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83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Fabric reporting 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92840" y="2926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B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Fabric changes the reporting setup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30352" y="178308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main shift is from report-only files to a more organised reporting layer.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2569464"/>
            <a:ext cx="146304" cy="146304"/>
          </a:xfrm>
          <a:prstGeom prst="ellipse">
            <a:avLst/>
          </a:prstGeom>
          <a:solidFill>
            <a:srgbClr val="00837B"/>
          </a:solidFill>
          <a:ln w="12700">
            <a:solidFill>
              <a:srgbClr val="0083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5146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 are built around approved semantic models.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" y="3136392"/>
            <a:ext cx="146304" cy="146304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081528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Workspaces give a shared place for report and model items.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4360" y="3703320"/>
            <a:ext cx="146304" cy="146304"/>
          </a:xfrm>
          <a:prstGeom prst="ellipse">
            <a:avLst/>
          </a:prstGeom>
          <a:solidFill>
            <a:srgbClr val="00837B"/>
          </a:solidFill>
          <a:ln w="12700">
            <a:solidFill>
              <a:srgbClr val="0083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648456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report focuses on presentation and insight.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360" y="4270248"/>
            <a:ext cx="146304" cy="146304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215384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data layer is managed separately and controlled.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543800" y="841248"/>
            <a:ext cx="3474720" cy="3474720"/>
          </a:xfrm>
          <a:prstGeom prst="arc">
            <a:avLst/>
          </a:prstGeom>
          <a:noFill/>
          <a:ln w="63500">
            <a:solidFill>
              <a:srgbClr val="00837B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0" y="1417320"/>
            <a:ext cx="2194560" cy="2194560"/>
          </a:xfrm>
          <a:prstGeom prst="arc">
            <a:avLst/>
          </a:prstGeom>
          <a:noFill/>
          <a:ln w="50800">
            <a:solidFill>
              <a:srgbClr val="1E88E5">
                <a:alpha val="5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73568" y="1828800"/>
            <a:ext cx="2651760" cy="2651760"/>
          </a:xfrm>
          <a:prstGeom prst="ellipse">
            <a:avLst/>
          </a:prstGeom>
          <a:solidFill>
            <a:srgbClr val="F4F8FB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65592" y="226771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FABRIC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02920" y="6217920"/>
            <a:ext cx="11155680" cy="9144"/>
          </a:xfrm>
          <a:prstGeom prst="rect">
            <a:avLst/>
          </a:prstGeom>
          <a:noFill/>
          <a:ln w="12700">
            <a:solidFill>
              <a:srgbClr val="D7E2EA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837B"/>
          </a:solidFill>
          <a:ln w="12700">
            <a:solidFill>
              <a:srgbClr val="0083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3832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83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Fabric reporting 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92840" y="2926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Screen view: Fabric workspace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0352" y="1216152"/>
            <a:ext cx="7178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workspace brings reports, semantic models and other Fabric items into one place.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594360" y="1810512"/>
            <a:ext cx="11018520" cy="4370832"/>
          </a:xfrm>
          <a:prstGeom prst="roundRect">
            <a:avLst>
              <a:gd name="adj" fmla="val 2092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</p:sp>
      <p:pic>
        <p:nvPicPr>
          <p:cNvPr id="8" name="Image 0" descr="/mnt/data/ms_screens/workspace.png">    </p:cNvPr>
          <p:cNvPicPr>
            <a:picLocks noChangeAspect="1"/>
          </p:cNvPicPr>
          <p:nvPr/>
        </p:nvPicPr>
        <p:blipFill>
          <a:blip r:embed="rId1"/>
          <a:srcRect l="0" r="0" t="18974" b="18974"/>
          <a:stretch/>
        </p:blipFill>
        <p:spPr>
          <a:xfrm>
            <a:off x="777240" y="1965960"/>
            <a:ext cx="10652760" cy="4023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94944" y="6345936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Learn screenshot: Microsoft Fabric workspace page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837B"/>
          </a:solidFill>
          <a:ln w="12700">
            <a:solidFill>
              <a:srgbClr val="0083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3832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83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creation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92840" y="2926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B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Report work in the new lifecycle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30352" y="178308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focus stays on reporting: build, validate, review and publish.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2569464"/>
            <a:ext cx="146304" cy="146304"/>
          </a:xfrm>
          <a:prstGeom prst="ellipse">
            <a:avLst/>
          </a:prstGeom>
          <a:solidFill>
            <a:srgbClr val="00837B"/>
          </a:solidFill>
          <a:ln w="12700">
            <a:solidFill>
              <a:srgbClr val="0083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5146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an agreed request or user story.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" y="3136392"/>
            <a:ext cx="146304" cy="146304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081528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to the approved semantic model available for reporting.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4360" y="3703320"/>
            <a:ext cx="146304" cy="146304"/>
          </a:xfrm>
          <a:prstGeom prst="ellipse">
            <a:avLst/>
          </a:prstGeom>
          <a:solidFill>
            <a:srgbClr val="00837B"/>
          </a:solidFill>
          <a:ln w="12700">
            <a:solidFill>
              <a:srgbClr val="0083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648456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the report content and check the numbers.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360" y="4270248"/>
            <a:ext cx="146304" cy="146304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215384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 report content once review and sign-off are complete.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543800" y="841248"/>
            <a:ext cx="3474720" cy="3474720"/>
          </a:xfrm>
          <a:prstGeom prst="arc">
            <a:avLst/>
          </a:prstGeom>
          <a:noFill/>
          <a:ln w="63500">
            <a:solidFill>
              <a:srgbClr val="00837B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0" y="1417320"/>
            <a:ext cx="2194560" cy="2194560"/>
          </a:xfrm>
          <a:prstGeom prst="arc">
            <a:avLst/>
          </a:prstGeom>
          <a:noFill/>
          <a:ln w="50800">
            <a:solidFill>
              <a:srgbClr val="1E88E5">
                <a:alpha val="5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73568" y="1828800"/>
            <a:ext cx="2651760" cy="2651760"/>
          </a:xfrm>
          <a:prstGeom prst="ellipse">
            <a:avLst/>
          </a:prstGeom>
          <a:solidFill>
            <a:srgbClr val="F4F8FB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65592" y="226771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REPORT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02920" y="6217920"/>
            <a:ext cx="11155680" cy="9144"/>
          </a:xfrm>
          <a:prstGeom prst="rect">
            <a:avLst/>
          </a:prstGeom>
          <a:noFill/>
          <a:ln w="12700">
            <a:solidFill>
              <a:srgbClr val="D7E2EA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837B"/>
          </a:solidFill>
          <a:ln w="12700">
            <a:solidFill>
              <a:srgbClr val="0083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3832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83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creation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92840" y="2926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Screen view: report authoring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0352" y="1216152"/>
            <a:ext cx="7178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part analysts will recognise most: report visuals and fields.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594360" y="1810512"/>
            <a:ext cx="11018520" cy="4370832"/>
          </a:xfrm>
          <a:prstGeom prst="roundRect">
            <a:avLst>
              <a:gd name="adj" fmla="val 2092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</p:sp>
      <p:pic>
        <p:nvPicPr>
          <p:cNvPr id="8" name="Image 0" descr="/mnt/data/ms_screens/report.png">    </p:cNvPr>
          <p:cNvPicPr>
            <a:picLocks noChangeAspect="1"/>
          </p:cNvPicPr>
          <p:nvPr/>
        </p:nvPicPr>
        <p:blipFill>
          <a:blip r:embed="rId1"/>
          <a:srcRect l="0" r="0" t="11965" b="11965"/>
          <a:stretch/>
        </p:blipFill>
        <p:spPr>
          <a:xfrm>
            <a:off x="777240" y="1965960"/>
            <a:ext cx="10652760" cy="4023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94944" y="6345936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Learn screenshot: Power BI report in Microsoft Fabric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837B"/>
          </a:solidFill>
          <a:ln w="12700">
            <a:solidFill>
              <a:srgbClr val="0083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3832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83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Agile work items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92840" y="2926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B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work is broken down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30352" y="178308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simple hierarchy helps connect business goals to report work.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2569464"/>
            <a:ext cx="146304" cy="146304"/>
          </a:xfrm>
          <a:prstGeom prst="ellipse">
            <a:avLst/>
          </a:prstGeom>
          <a:solidFill>
            <a:srgbClr val="00837B"/>
          </a:solidFill>
          <a:ln w="12700">
            <a:solidFill>
              <a:srgbClr val="0083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5146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Epic: the larger business outcome.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" y="3136392"/>
            <a:ext cx="146304" cy="146304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081528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Feature: a capability or reporting area.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4360" y="3703320"/>
            <a:ext cx="146304" cy="146304"/>
          </a:xfrm>
          <a:prstGeom prst="ellipse">
            <a:avLst/>
          </a:prstGeom>
          <a:solidFill>
            <a:srgbClr val="00837B"/>
          </a:solidFill>
          <a:ln w="12700">
            <a:solidFill>
              <a:srgbClr val="0083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648456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story: the business request and reason.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360" y="4270248"/>
            <a:ext cx="146304" cy="146304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215384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Task: the actual pieces of work needed to complete it.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543800" y="841248"/>
            <a:ext cx="3474720" cy="3474720"/>
          </a:xfrm>
          <a:prstGeom prst="arc">
            <a:avLst/>
          </a:prstGeom>
          <a:noFill/>
          <a:ln w="63500">
            <a:solidFill>
              <a:srgbClr val="00837B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0" y="1417320"/>
            <a:ext cx="2194560" cy="2194560"/>
          </a:xfrm>
          <a:prstGeom prst="arc">
            <a:avLst/>
          </a:prstGeom>
          <a:noFill/>
          <a:ln w="50800">
            <a:solidFill>
              <a:srgbClr val="1E88E5">
                <a:alpha val="5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73568" y="1828800"/>
            <a:ext cx="2651760" cy="2651760"/>
          </a:xfrm>
          <a:prstGeom prst="ellipse">
            <a:avLst/>
          </a:prstGeom>
          <a:solidFill>
            <a:srgbClr val="F4F8FB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65592" y="226771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02920" y="6217920"/>
            <a:ext cx="11155680" cy="9144"/>
          </a:xfrm>
          <a:prstGeom prst="rect">
            <a:avLst/>
          </a:prstGeom>
          <a:noFill/>
          <a:ln w="12700">
            <a:solidFill>
              <a:srgbClr val="D7E2EA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837B"/>
          </a:solidFill>
          <a:ln w="12700">
            <a:solidFill>
              <a:srgbClr val="0083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3832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83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Agile work items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92840" y="2926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Screen view: project dashboard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0352" y="1216152"/>
            <a:ext cx="7178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view helps teams see progress without needing technical detail.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594360" y="1810512"/>
            <a:ext cx="11018520" cy="4370832"/>
          </a:xfrm>
          <a:prstGeom prst="roundRect">
            <a:avLst>
              <a:gd name="adj" fmla="val 2092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</p:sp>
      <p:pic>
        <p:nvPicPr>
          <p:cNvPr id="8" name="Image 0" descr="/mnt/data/ms_screens/devops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13699" y="1965960"/>
            <a:ext cx="5579842" cy="4023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94944" y="6345936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Learn screenshot: Azure DevOps current sprint summary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837B"/>
          </a:solidFill>
          <a:ln w="12700">
            <a:solidFill>
              <a:srgbClr val="0083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3832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83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lifecycle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92840" y="2926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B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request to published report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30352" y="178308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path helps everyone understand where a report change currently sits.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2569464"/>
            <a:ext cx="146304" cy="146304"/>
          </a:xfrm>
          <a:prstGeom prst="ellipse">
            <a:avLst/>
          </a:prstGeom>
          <a:solidFill>
            <a:srgbClr val="00837B"/>
          </a:solidFill>
          <a:ln w="12700">
            <a:solidFill>
              <a:srgbClr val="0083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5146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captured and agreed.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" y="3136392"/>
            <a:ext cx="146304" cy="146304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081528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built from the approved model.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4360" y="3703320"/>
            <a:ext cx="146304" cy="146304"/>
          </a:xfrm>
          <a:prstGeom prst="ellipse">
            <a:avLst/>
          </a:prstGeom>
          <a:solidFill>
            <a:srgbClr val="00837B"/>
          </a:solidFill>
          <a:ln w="12700">
            <a:solidFill>
              <a:srgbClr val="0083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648456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Numbers and layout reviewed.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360" y="4270248"/>
            <a:ext cx="146304" cy="146304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215384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approval recorded.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4360" y="4837176"/>
            <a:ext cx="146304" cy="146304"/>
          </a:xfrm>
          <a:prstGeom prst="ellipse">
            <a:avLst/>
          </a:prstGeom>
          <a:solidFill>
            <a:srgbClr val="00837B"/>
          </a:solidFill>
          <a:ln w="12700">
            <a:solidFill>
              <a:srgbClr val="0083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78231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content published for users.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543800" y="841248"/>
            <a:ext cx="3474720" cy="3474720"/>
          </a:xfrm>
          <a:prstGeom prst="arc">
            <a:avLst/>
          </a:prstGeom>
          <a:noFill/>
          <a:ln w="63500">
            <a:solidFill>
              <a:srgbClr val="00837B">
                <a:alpha val="6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1417320"/>
            <a:ext cx="2194560" cy="2194560"/>
          </a:xfrm>
          <a:prstGeom prst="arc">
            <a:avLst/>
          </a:prstGeom>
          <a:noFill/>
          <a:ln w="50800">
            <a:solidFill>
              <a:srgbClr val="1E88E5">
                <a:alpha val="5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73568" y="1828800"/>
            <a:ext cx="2651760" cy="2651760"/>
          </a:xfrm>
          <a:prstGeom prst="ellipse">
            <a:avLst/>
          </a:prstGeom>
          <a:solidFill>
            <a:srgbClr val="F4F8FB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65592" y="226771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FLOW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02920" y="6217920"/>
            <a:ext cx="11155680" cy="9144"/>
          </a:xfrm>
          <a:prstGeom prst="rect">
            <a:avLst/>
          </a:prstGeom>
          <a:noFill/>
          <a:ln w="12700">
            <a:solidFill>
              <a:srgbClr val="D7E2EA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837B"/>
          </a:solidFill>
          <a:ln w="12700">
            <a:solidFill>
              <a:srgbClr val="0083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3832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83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lifecycle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92840" y="2926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Screen view: Fabric New item entry point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0352" y="1216152"/>
            <a:ext cx="7178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Fabric gives a common starting point for creating and organising content.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594360" y="1810512"/>
            <a:ext cx="11018520" cy="4370832"/>
          </a:xfrm>
          <a:prstGeom prst="roundRect">
            <a:avLst>
              <a:gd name="adj" fmla="val 2092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</p:sp>
      <p:pic>
        <p:nvPicPr>
          <p:cNvPr id="8" name="Image 0" descr="/mnt/data/ms_screens/new_it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773067"/>
            <a:ext cx="10652760" cy="240914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94944" y="6345936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Learn screenshot: New item in Microsoft Fabric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837B"/>
          </a:solidFill>
          <a:ln w="12700">
            <a:solidFill>
              <a:srgbClr val="0083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3832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83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lifecycle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92840" y="2926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Lifecycle view for report changes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2618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report change normally moves through these stages before it reaches users.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1256157" cy="713232"/>
          </a:xfrm>
          <a:prstGeom prst="roundRect">
            <a:avLst>
              <a:gd name="adj" fmla="val 10256"/>
            </a:avLst>
          </a:prstGeom>
          <a:solidFill>
            <a:srgbClr val="F4F8FB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2962656"/>
            <a:ext cx="112814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868805" y="2990088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015109" y="2788920"/>
            <a:ext cx="1256157" cy="713232"/>
          </a:xfrm>
          <a:prstGeom prst="roundRect">
            <a:avLst>
              <a:gd name="adj" fmla="val 10256"/>
            </a:avLst>
          </a:prstGeom>
          <a:solidFill>
            <a:srgbClr val="F4F8FB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79117" y="2962656"/>
            <a:ext cx="112814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Story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243834" y="2990088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390138" y="2788920"/>
            <a:ext cx="1256157" cy="713232"/>
          </a:xfrm>
          <a:prstGeom prst="roundRect">
            <a:avLst>
              <a:gd name="adj" fmla="val 10256"/>
            </a:avLst>
          </a:prstGeom>
          <a:solidFill>
            <a:srgbClr val="F4F8FB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54146" y="2962656"/>
            <a:ext cx="112814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Build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618863" y="2990088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765167" y="2788920"/>
            <a:ext cx="1256157" cy="713232"/>
          </a:xfrm>
          <a:prstGeom prst="roundRect">
            <a:avLst>
              <a:gd name="adj" fmla="val 10256"/>
            </a:avLst>
          </a:prstGeom>
          <a:solidFill>
            <a:srgbClr val="F4F8FB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29175" y="2962656"/>
            <a:ext cx="112814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993892" y="2990088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140196" y="2788920"/>
            <a:ext cx="1256157" cy="713232"/>
          </a:xfrm>
          <a:prstGeom prst="roundRect">
            <a:avLst>
              <a:gd name="adj" fmla="val 10256"/>
            </a:avLst>
          </a:prstGeom>
          <a:solidFill>
            <a:srgbClr val="F4F8FB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04204" y="2962656"/>
            <a:ext cx="112814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368921" y="2990088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515225" y="2788920"/>
            <a:ext cx="1256157" cy="713232"/>
          </a:xfrm>
          <a:prstGeom prst="roundRect">
            <a:avLst>
              <a:gd name="adj" fmla="val 10256"/>
            </a:avLst>
          </a:prstGeom>
          <a:solidFill>
            <a:srgbClr val="F4F8FB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79233" y="2962656"/>
            <a:ext cx="112814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Approval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743950" y="2990088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8890254" y="2788920"/>
            <a:ext cx="1256157" cy="713232"/>
          </a:xfrm>
          <a:prstGeom prst="roundRect">
            <a:avLst>
              <a:gd name="adj" fmla="val 10256"/>
            </a:avLst>
          </a:prstGeom>
          <a:solidFill>
            <a:srgbClr val="F4F8FB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54262" y="2962656"/>
            <a:ext cx="112814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118979" y="2990088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10265283" y="2788920"/>
            <a:ext cx="1256157" cy="713232"/>
          </a:xfrm>
          <a:prstGeom prst="roundRect">
            <a:avLst>
              <a:gd name="adj" fmla="val 10256"/>
            </a:avLst>
          </a:prstGeom>
          <a:solidFill>
            <a:srgbClr val="00837B"/>
          </a:solidFill>
          <a:ln w="12700">
            <a:solidFill>
              <a:srgbClr val="00837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329291" y="2962656"/>
            <a:ext cx="112814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14400" y="406908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gives a common view of progress and avoids confusion around what is ready, what is under review and what has already been published.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837B"/>
          </a:solidFill>
          <a:ln w="12700">
            <a:solidFill>
              <a:srgbClr val="0083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3832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83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lifecycle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92840" y="2926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Screen view: source item comparison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0352" y="1216152"/>
            <a:ext cx="7178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 views show controlled movement of content behind the scenes.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594360" y="1810512"/>
            <a:ext cx="11018520" cy="4370832"/>
          </a:xfrm>
          <a:prstGeom prst="roundRect">
            <a:avLst>
              <a:gd name="adj" fmla="val 2092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</p:sp>
      <p:pic>
        <p:nvPicPr>
          <p:cNvPr id="8" name="Image 0" descr="/mnt/data/ms_screens/paired_items.png">    </p:cNvPr>
          <p:cNvPicPr>
            <a:picLocks noChangeAspect="1"/>
          </p:cNvPicPr>
          <p:nvPr/>
        </p:nvPicPr>
        <p:blipFill>
          <a:blip r:embed="rId1"/>
          <a:srcRect l="19322" r="19322" t="0" b="0"/>
          <a:stretch/>
        </p:blipFill>
        <p:spPr>
          <a:xfrm>
            <a:off x="777240" y="1965960"/>
            <a:ext cx="10652760" cy="4023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94944" y="6345936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Learn screenshot: Fabric deployment pipeline paired items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837B"/>
          </a:solidFill>
          <a:ln w="12700">
            <a:solidFill>
              <a:srgbClr val="0083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3832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83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 control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92840" y="2926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B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Version control in simple terms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30352" y="178308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 control protects work by keeping a history of saved changes.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2569464"/>
            <a:ext cx="146304" cy="146304"/>
          </a:xfrm>
          <a:prstGeom prst="ellipse">
            <a:avLst/>
          </a:prstGeom>
          <a:solidFill>
            <a:srgbClr val="00837B"/>
          </a:solidFill>
          <a:ln w="12700">
            <a:solidFill>
              <a:srgbClr val="0083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5146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shows what changed, when it changed and who saved it.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" y="3136392"/>
            <a:ext cx="146304" cy="146304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081528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helps avoid losing work or overwriting another update.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4360" y="3703320"/>
            <a:ext cx="146304" cy="146304"/>
          </a:xfrm>
          <a:prstGeom prst="ellipse">
            <a:avLst/>
          </a:prstGeom>
          <a:solidFill>
            <a:srgbClr val="00837B"/>
          </a:solidFill>
          <a:ln w="12700">
            <a:solidFill>
              <a:srgbClr val="0083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648456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supports recovery when the wrong change is made.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360" y="4270248"/>
            <a:ext cx="146304" cy="146304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215384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report authors, the goal is safe saving and traceability.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543800" y="841248"/>
            <a:ext cx="3474720" cy="3474720"/>
          </a:xfrm>
          <a:prstGeom prst="arc">
            <a:avLst/>
          </a:prstGeom>
          <a:noFill/>
          <a:ln w="63500">
            <a:solidFill>
              <a:srgbClr val="00837B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0" y="1417320"/>
            <a:ext cx="2194560" cy="2194560"/>
          </a:xfrm>
          <a:prstGeom prst="arc">
            <a:avLst/>
          </a:prstGeom>
          <a:noFill/>
          <a:ln w="50800">
            <a:solidFill>
              <a:srgbClr val="1E88E5">
                <a:alpha val="5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73568" y="1828800"/>
            <a:ext cx="2651760" cy="2651760"/>
          </a:xfrm>
          <a:prstGeom prst="ellipse">
            <a:avLst/>
          </a:prstGeom>
          <a:solidFill>
            <a:srgbClr val="F4F8FB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65592" y="226771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SAVE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02920" y="6217920"/>
            <a:ext cx="11155680" cy="9144"/>
          </a:xfrm>
          <a:prstGeom prst="rect">
            <a:avLst/>
          </a:prstGeom>
          <a:noFill/>
          <a:ln w="12700">
            <a:solidFill>
              <a:srgbClr val="D7E2EA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837B"/>
          </a:solidFill>
          <a:ln w="12700">
            <a:solidFill>
              <a:srgbClr val="0083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3832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83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 control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92840" y="2926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Screen view: Fabric source control status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0352" y="1216152"/>
            <a:ext cx="7178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control shows whether workspace items are synced or changed.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594360" y="1810512"/>
            <a:ext cx="11018520" cy="4370832"/>
          </a:xfrm>
          <a:prstGeom prst="roundRect">
            <a:avLst>
              <a:gd name="adj" fmla="val 2092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</p:sp>
      <p:pic>
        <p:nvPicPr>
          <p:cNvPr id="8" name="Image 0" descr="/mnt/data/ms_screens/git_sync.png">    </p:cNvPr>
          <p:cNvPicPr>
            <a:picLocks noChangeAspect="1"/>
          </p:cNvPicPr>
          <p:nvPr/>
        </p:nvPicPr>
        <p:blipFill>
          <a:blip r:embed="rId1"/>
          <a:srcRect l="0" r="0" t="1871" b="1871"/>
          <a:stretch/>
        </p:blipFill>
        <p:spPr>
          <a:xfrm>
            <a:off x="777240" y="1965960"/>
            <a:ext cx="10652760" cy="4023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94944" y="6345936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Learn screenshot: Fabric Git sync information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837B"/>
          </a:solidFill>
          <a:ln w="12700">
            <a:solidFill>
              <a:srgbClr val="0083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3832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83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Saving work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92840" y="2926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B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changes are saved safely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30352" y="178308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idea is not complex Git training; it is a reliable way to keep a record.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2569464"/>
            <a:ext cx="146304" cy="146304"/>
          </a:xfrm>
          <a:prstGeom prst="ellipse">
            <a:avLst/>
          </a:prstGeom>
          <a:solidFill>
            <a:srgbClr val="00837B"/>
          </a:solidFill>
          <a:ln w="12700">
            <a:solidFill>
              <a:srgbClr val="0083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5146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Changes are saved against the report item.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" y="3136392"/>
            <a:ext cx="146304" cy="146304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081528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short commit message explains the reason for the change.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4360" y="3703320"/>
            <a:ext cx="146304" cy="146304"/>
          </a:xfrm>
          <a:prstGeom prst="ellipse">
            <a:avLst/>
          </a:prstGeom>
          <a:solidFill>
            <a:srgbClr val="00837B"/>
          </a:solidFill>
          <a:ln w="12700">
            <a:solidFill>
              <a:srgbClr val="0083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648456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history helps compare and recover work later.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360" y="4270248"/>
            <a:ext cx="146304" cy="146304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215384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process reduces the risk of losing report updates.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543800" y="841248"/>
            <a:ext cx="3474720" cy="3474720"/>
          </a:xfrm>
          <a:prstGeom prst="arc">
            <a:avLst/>
          </a:prstGeom>
          <a:noFill/>
          <a:ln w="63500">
            <a:solidFill>
              <a:srgbClr val="00837B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0" y="1417320"/>
            <a:ext cx="2194560" cy="2194560"/>
          </a:xfrm>
          <a:prstGeom prst="arc">
            <a:avLst/>
          </a:prstGeom>
          <a:noFill/>
          <a:ln w="50800">
            <a:solidFill>
              <a:srgbClr val="1E88E5">
                <a:alpha val="5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73568" y="1828800"/>
            <a:ext cx="2651760" cy="2651760"/>
          </a:xfrm>
          <a:prstGeom prst="ellipse">
            <a:avLst/>
          </a:prstGeom>
          <a:solidFill>
            <a:srgbClr val="F4F8FB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65592" y="226771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HISTORY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02920" y="6217920"/>
            <a:ext cx="11155680" cy="9144"/>
          </a:xfrm>
          <a:prstGeom prst="rect">
            <a:avLst/>
          </a:prstGeom>
          <a:noFill/>
          <a:ln w="12700">
            <a:solidFill>
              <a:srgbClr val="D7E2EA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837B"/>
          </a:solidFill>
          <a:ln w="12700">
            <a:solidFill>
              <a:srgbClr val="0083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3832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83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Saving work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92840" y="2926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Screen view: commit changes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0352" y="1216152"/>
            <a:ext cx="7178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commit is a simple saved checkpoint with selected items and a short message.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594360" y="1810512"/>
            <a:ext cx="11018520" cy="4370832"/>
          </a:xfrm>
          <a:prstGeom prst="roundRect">
            <a:avLst>
              <a:gd name="adj" fmla="val 2092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</p:sp>
      <p:pic>
        <p:nvPicPr>
          <p:cNvPr id="8" name="Image 0" descr="/mnt/data/ms_screens/commit_chang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1717" y="1965960"/>
            <a:ext cx="2123806" cy="4023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94944" y="6345936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Learn screenshot: Fabric commit changes panel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837B"/>
          </a:solidFill>
          <a:ln w="12700">
            <a:solidFill>
              <a:srgbClr val="0083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3832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83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Controlled areas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92840" y="2926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B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Workspaces and environments at a high level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30352" y="178308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Analysts do not need deep environment detail, but the split explains why PROD is controlled.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2569464"/>
            <a:ext cx="146304" cy="146304"/>
          </a:xfrm>
          <a:prstGeom prst="ellipse">
            <a:avLst/>
          </a:prstGeom>
          <a:solidFill>
            <a:srgbClr val="00837B"/>
          </a:solidFill>
          <a:ln w="12700">
            <a:solidFill>
              <a:srgbClr val="0083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5146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Development and testing areas are used for technical changes.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" y="3136392"/>
            <a:ext cx="146304" cy="146304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081528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UAT supports business validation before wider release.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4360" y="3703320"/>
            <a:ext cx="146304" cy="146304"/>
          </a:xfrm>
          <a:prstGeom prst="ellipse">
            <a:avLst/>
          </a:prstGeom>
          <a:solidFill>
            <a:srgbClr val="00837B"/>
          </a:solidFill>
          <a:ln w="12700">
            <a:solidFill>
              <a:srgbClr val="0083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648456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 is the trusted area used by business users.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360" y="4270248"/>
            <a:ext cx="146304" cy="146304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215384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PROD semantic models support report creation.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543800" y="841248"/>
            <a:ext cx="3474720" cy="3474720"/>
          </a:xfrm>
          <a:prstGeom prst="arc">
            <a:avLst/>
          </a:prstGeom>
          <a:noFill/>
          <a:ln w="63500">
            <a:solidFill>
              <a:srgbClr val="00837B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0" y="1417320"/>
            <a:ext cx="2194560" cy="2194560"/>
          </a:xfrm>
          <a:prstGeom prst="arc">
            <a:avLst/>
          </a:prstGeom>
          <a:noFill/>
          <a:ln w="50800">
            <a:solidFill>
              <a:srgbClr val="1E88E5">
                <a:alpha val="5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73568" y="1828800"/>
            <a:ext cx="2651760" cy="2651760"/>
          </a:xfrm>
          <a:prstGeom prst="ellipse">
            <a:avLst/>
          </a:prstGeom>
          <a:solidFill>
            <a:srgbClr val="F4F8FB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65592" y="226771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02920" y="6217920"/>
            <a:ext cx="11155680" cy="9144"/>
          </a:xfrm>
          <a:prstGeom prst="rect">
            <a:avLst/>
          </a:prstGeom>
          <a:noFill/>
          <a:ln w="12700">
            <a:solidFill>
              <a:srgbClr val="D7E2EA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837B"/>
          </a:solidFill>
          <a:ln w="12700">
            <a:solidFill>
              <a:srgbClr val="0083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3832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83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Controlled areas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92840" y="2926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Screen view: Direct Lake and report connection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0352" y="1216152"/>
            <a:ext cx="7178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 models act as the trusted layer between data and reports.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594360" y="1810512"/>
            <a:ext cx="11018520" cy="4370832"/>
          </a:xfrm>
          <a:prstGeom prst="roundRect">
            <a:avLst>
              <a:gd name="adj" fmla="val 2092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</p:sp>
      <p:pic>
        <p:nvPicPr>
          <p:cNvPr id="8" name="Image 0" descr="/mnt/data/ms_screens/direct_lake_pb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1929" y="1965960"/>
            <a:ext cx="8763381" cy="4023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94944" y="6345936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Learn screenshot: Direct Lake semantic model and Power BI Project flow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837B"/>
          </a:solidFill>
          <a:ln w="12700">
            <a:solidFill>
              <a:srgbClr val="0083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3832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83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Responsibilities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92840" y="2926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B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 work is split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30352" y="178308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lifecycle is easier when each group understands its part.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2569464"/>
            <a:ext cx="146304" cy="146304"/>
          </a:xfrm>
          <a:prstGeom prst="ellipse">
            <a:avLst/>
          </a:prstGeom>
          <a:solidFill>
            <a:srgbClr val="00837B"/>
          </a:solidFill>
          <a:ln w="12700">
            <a:solidFill>
              <a:srgbClr val="0083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5146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and analysts bring the reporting need and validate outcomes.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" y="3136392"/>
            <a:ext cx="146304" cy="146304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081528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Fabric team manages semantic models and data platform items.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4360" y="3703320"/>
            <a:ext cx="146304" cy="146304"/>
          </a:xfrm>
          <a:prstGeom prst="ellipse">
            <a:avLst/>
          </a:prstGeom>
          <a:solidFill>
            <a:srgbClr val="00837B"/>
          </a:solidFill>
          <a:ln w="12700">
            <a:solidFill>
              <a:srgbClr val="0083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648456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and DevOps team controls environment promotion and releases.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360" y="4270248"/>
            <a:ext cx="146304" cy="146304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215384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SMEs and testers confirm the report is fit for use.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543800" y="841248"/>
            <a:ext cx="3474720" cy="3474720"/>
          </a:xfrm>
          <a:prstGeom prst="arc">
            <a:avLst/>
          </a:prstGeom>
          <a:noFill/>
          <a:ln w="63500">
            <a:solidFill>
              <a:srgbClr val="00837B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0" y="1417320"/>
            <a:ext cx="2194560" cy="2194560"/>
          </a:xfrm>
          <a:prstGeom prst="arc">
            <a:avLst/>
          </a:prstGeom>
          <a:noFill/>
          <a:ln w="50800">
            <a:solidFill>
              <a:srgbClr val="1E88E5">
                <a:alpha val="5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73568" y="1828800"/>
            <a:ext cx="2651760" cy="2651760"/>
          </a:xfrm>
          <a:prstGeom prst="ellipse">
            <a:avLst/>
          </a:prstGeom>
          <a:solidFill>
            <a:srgbClr val="F4F8FB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65592" y="226771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02920" y="6217920"/>
            <a:ext cx="11155680" cy="9144"/>
          </a:xfrm>
          <a:prstGeom prst="rect">
            <a:avLst/>
          </a:prstGeom>
          <a:noFill/>
          <a:ln w="12700">
            <a:solidFill>
              <a:srgbClr val="D7E2EA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837B"/>
          </a:solidFill>
          <a:ln w="12700">
            <a:solidFill>
              <a:srgbClr val="0083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3832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83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Responsibilities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92840" y="2926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Screen view: deployment pipeline stages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0352" y="1216152"/>
            <a:ext cx="7178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 stages sit behind the report lifecycle and are managed by the platform process.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594360" y="1810512"/>
            <a:ext cx="11018520" cy="4370832"/>
          </a:xfrm>
          <a:prstGeom prst="roundRect">
            <a:avLst>
              <a:gd name="adj" fmla="val 2092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</p:sp>
      <p:pic>
        <p:nvPicPr>
          <p:cNvPr id="8" name="Image 0" descr="/mnt/data/ms_screens/deploy_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994112"/>
            <a:ext cx="10652760" cy="19670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94944" y="6345936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Learn screenshot: Fabric deployment pipeline stages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837B"/>
          </a:solidFill>
          <a:ln w="12700">
            <a:solidFill>
              <a:srgbClr val="0083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3832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83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Publishing awareness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92840" y="2926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B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Publishing without making it complicated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30352" y="178308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Publishing is about making report content available in the agreed place.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2569464"/>
            <a:ext cx="146304" cy="146304"/>
          </a:xfrm>
          <a:prstGeom prst="ellipse">
            <a:avLst/>
          </a:prstGeom>
          <a:solidFill>
            <a:srgbClr val="00837B"/>
          </a:solidFill>
          <a:ln w="12700">
            <a:solidFill>
              <a:srgbClr val="0083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5146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content is prepared using the approved model.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" y="3136392"/>
            <a:ext cx="146304" cy="146304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081528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checks the report layout and numbers.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4360" y="3703320"/>
            <a:ext cx="146304" cy="146304"/>
          </a:xfrm>
          <a:prstGeom prst="ellipse">
            <a:avLst/>
          </a:prstGeom>
          <a:solidFill>
            <a:srgbClr val="00837B"/>
          </a:solidFill>
          <a:ln w="12700">
            <a:solidFill>
              <a:srgbClr val="0083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648456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Approval confirms it is ready for the intended audience.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360" y="4270248"/>
            <a:ext cx="146304" cy="146304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215384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deployments remain separate from report publishing activity.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543800" y="841248"/>
            <a:ext cx="3474720" cy="3474720"/>
          </a:xfrm>
          <a:prstGeom prst="arc">
            <a:avLst/>
          </a:prstGeom>
          <a:noFill/>
          <a:ln w="63500">
            <a:solidFill>
              <a:srgbClr val="00837B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0" y="1417320"/>
            <a:ext cx="2194560" cy="2194560"/>
          </a:xfrm>
          <a:prstGeom prst="arc">
            <a:avLst/>
          </a:prstGeom>
          <a:noFill/>
          <a:ln w="50800">
            <a:solidFill>
              <a:srgbClr val="1E88E5">
                <a:alpha val="5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73568" y="1828800"/>
            <a:ext cx="2651760" cy="2651760"/>
          </a:xfrm>
          <a:prstGeom prst="ellipse">
            <a:avLst/>
          </a:prstGeom>
          <a:solidFill>
            <a:srgbClr val="F4F8FB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65592" y="226771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PUBLISH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02920" y="6217920"/>
            <a:ext cx="11155680" cy="9144"/>
          </a:xfrm>
          <a:prstGeom prst="rect">
            <a:avLst/>
          </a:prstGeom>
          <a:noFill/>
          <a:ln w="12700">
            <a:solidFill>
              <a:srgbClr val="D7E2EA"/>
            </a:solidFill>
            <a:prstDash val="solid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837B"/>
          </a:solidFill>
          <a:ln w="12700">
            <a:solidFill>
              <a:srgbClr val="0083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3832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83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Publishing awareness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92840" y="2926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Screen view: Fabric workspace items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0352" y="1216152"/>
            <a:ext cx="7178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workspace view shows reports, semantic models and other items together.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594360" y="1810512"/>
            <a:ext cx="11018520" cy="4370832"/>
          </a:xfrm>
          <a:prstGeom prst="roundRect">
            <a:avLst>
              <a:gd name="adj" fmla="val 2092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</p:sp>
      <p:pic>
        <p:nvPicPr>
          <p:cNvPr id="8" name="Image 0" descr="/mnt/data/ms_screens/workspace.png">    </p:cNvPr>
          <p:cNvPicPr>
            <a:picLocks noChangeAspect="1"/>
          </p:cNvPicPr>
          <p:nvPr/>
        </p:nvPicPr>
        <p:blipFill>
          <a:blip r:embed="rId1"/>
          <a:srcRect l="0" r="0" t="18974" b="18974"/>
          <a:stretch/>
        </p:blipFill>
        <p:spPr>
          <a:xfrm>
            <a:off x="777240" y="1965960"/>
            <a:ext cx="10652760" cy="4023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94944" y="6345936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Learn screenshot: Fabric workspace item list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837B"/>
          </a:solidFill>
          <a:ln w="12700">
            <a:solidFill>
              <a:srgbClr val="0083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3832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83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92840" y="2926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takeaway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837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aim is not to turn analysts into DevOps engineers.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34440" y="2788920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aim is to give report delivery a clear, safe and traceable path in Fabric.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005840" y="4133088"/>
            <a:ext cx="1934870" cy="713232"/>
          </a:xfrm>
          <a:prstGeom prst="roundRect">
            <a:avLst>
              <a:gd name="adj" fmla="val 10256"/>
            </a:avLst>
          </a:prstGeom>
          <a:solidFill>
            <a:srgbClr val="F4F8FB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9848" y="4306824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Trusted model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913278" y="4334256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059582" y="4133088"/>
            <a:ext cx="1934870" cy="713232"/>
          </a:xfrm>
          <a:prstGeom prst="roundRect">
            <a:avLst>
              <a:gd name="adj" fmla="val 10256"/>
            </a:avLst>
          </a:prstGeom>
          <a:solidFill>
            <a:srgbClr val="F4F8FB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23590" y="4306824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Saved work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967021" y="4334256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113325" y="4133088"/>
            <a:ext cx="1934870" cy="713232"/>
          </a:xfrm>
          <a:prstGeom prst="roundRect">
            <a:avLst>
              <a:gd name="adj" fmla="val 10256"/>
            </a:avLst>
          </a:prstGeom>
          <a:solidFill>
            <a:srgbClr val="F4F8FB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77333" y="4306824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020763" y="4334256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167067" y="4133088"/>
            <a:ext cx="1934870" cy="713232"/>
          </a:xfrm>
          <a:prstGeom prst="roundRect">
            <a:avLst>
              <a:gd name="adj" fmla="val 10256"/>
            </a:avLst>
          </a:prstGeom>
          <a:solidFill>
            <a:srgbClr val="F4F8FB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31075" y="4306824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Approval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074506" y="4334256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220810" y="4133088"/>
            <a:ext cx="1934870" cy="713232"/>
          </a:xfrm>
          <a:prstGeom prst="roundRect">
            <a:avLst>
              <a:gd name="adj" fmla="val 10256"/>
            </a:avLst>
          </a:prstGeom>
          <a:solidFill>
            <a:srgbClr val="00837B"/>
          </a:solidFill>
          <a:ln w="12700">
            <a:solidFill>
              <a:srgbClr val="0083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84818" y="4306824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Published report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051560" y="557784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controlled lifecycle reduces surprises and gives everyone confidence in the reports being shared.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Fabric DevOps Analyst Walkthrough</dc:title>
  <dc:subject>Microsoft Fabric, DevOps and Version Control</dc:subject>
  <dc:creator>Kishore K</dc:creator>
  <cp:lastModifiedBy>Kishore K</cp:lastModifiedBy>
  <cp:revision>1</cp:revision>
  <dcterms:created xsi:type="dcterms:W3CDTF">2026-06-23T22:54:58Z</dcterms:created>
  <dcterms:modified xsi:type="dcterms:W3CDTF">2026-06-23T22:54:58Z</dcterms:modified>
</cp:coreProperties>
</file>